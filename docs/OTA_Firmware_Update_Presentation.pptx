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S-Board OTA Firmware Update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Segoe UI"/>
              </a:defRPr>
            </a:pPr>
            <a:r>
              <a:t>CAN-FD Over-The-Air Updates for TI C2000 F28P55x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GEN3 Power Distribution Unit  |  Delta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Author: Parthasarathy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6DDE6"/>
                </a:solidFill>
                <a:latin typeface="Segoe UI"/>
              </a:defRPr>
            </a:pPr>
            <a:r>
              <a:t>Updating 100+ deployed S-Boards:</a:t>
            </a:r>
          </a:p>
          <a:p>
            <a:pPr>
              <a:defRPr sz="1000" b="0">
                <a:solidFill>
                  <a:srgbClr val="D6DDE6"/>
                </a:solidFill>
                <a:latin typeface="Segoe UI"/>
              </a:defRPr>
            </a:pPr>
          </a:p>
          <a:p>
            <a:pPr>
              <a:defRPr sz="1800" b="0">
                <a:solidFill>
                  <a:srgbClr val="FF6B6B"/>
                </a:solidFill>
                <a:latin typeface="Segoe UI"/>
              </a:defRPr>
            </a:pPr>
            <a:r>
              <a:t>   Physical access to each board</a:t>
            </a:r>
          </a:p>
          <a:p>
            <a:pPr>
              <a:defRPr sz="1800" b="0">
                <a:solidFill>
                  <a:srgbClr val="FF6B6B"/>
                </a:solidFill>
                <a:latin typeface="Segoe UI"/>
              </a:defRPr>
            </a:pPr>
            <a:r>
              <a:t>   JTAG debugger connection</a:t>
            </a:r>
          </a:p>
          <a:p>
            <a:pPr>
              <a:defRPr sz="1800" b="0">
                <a:solidFill>
                  <a:srgbClr val="FF6B6B"/>
                </a:solidFill>
                <a:latin typeface="Segoe UI"/>
              </a:defRPr>
            </a:pPr>
            <a:r>
              <a:t>   CCS installed on field laptop</a:t>
            </a:r>
          </a:p>
          <a:p>
            <a:pPr>
              <a:defRPr sz="1800" b="0">
                <a:solidFill>
                  <a:srgbClr val="FF6B6B"/>
                </a:solidFill>
                <a:latin typeface="Segoe UI"/>
              </a:defRPr>
            </a:pPr>
            <a:r>
              <a:t>   15+ minutes per board</a:t>
            </a:r>
          </a:p>
          <a:p>
            <a:pPr>
              <a:defRPr sz="1800" b="0">
                <a:solidFill>
                  <a:srgbClr val="FF6B6B"/>
                </a:solidFill>
                <a:latin typeface="Segoe UI"/>
              </a:defRPr>
            </a:pPr>
            <a:r>
              <a:t>   Risk of bricking on power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0D1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ADF7A"/>
                </a:solidFill>
                <a:latin typeface="Segoe UI"/>
              </a:defRPr>
            </a:pPr>
            <a:r>
              <a:t>What we need:</a:t>
            </a:r>
          </a:p>
          <a:p>
            <a:pPr>
              <a:defRPr sz="1000" b="0">
                <a:solidFill>
                  <a:srgbClr val="D6DDE6"/>
                </a:solidFill>
                <a:latin typeface="Segoe UI"/>
              </a:defRPr>
            </a:pPr>
          </a:p>
          <a:p>
            <a:pPr>
              <a:defRPr sz="1800" b="0">
                <a:solidFill>
                  <a:srgbClr val="7ADF7A"/>
                </a:solidFill>
                <a:latin typeface="Segoe UI"/>
              </a:defRPr>
            </a:pPr>
            <a:r>
              <a:t>   Remote update over CAN bus</a:t>
            </a:r>
          </a:p>
          <a:p>
            <a:pPr>
              <a:defRPr sz="1800" b="0">
                <a:solidFill>
                  <a:srgbClr val="7ADF7A"/>
                </a:solidFill>
                <a:latin typeface="Segoe UI"/>
              </a:defRPr>
            </a:pPr>
            <a:r>
              <a:t>   No JTAG, no CCS needed</a:t>
            </a:r>
          </a:p>
          <a:p>
            <a:pPr>
              <a:defRPr sz="1800" b="0">
                <a:solidFill>
                  <a:srgbClr val="7ADF7A"/>
                </a:solidFill>
                <a:latin typeface="Segoe UI"/>
              </a:defRPr>
            </a:pPr>
            <a:r>
              <a:t>   ~30 seconds per board</a:t>
            </a:r>
          </a:p>
          <a:p>
            <a:pPr>
              <a:defRPr sz="1800" b="0">
                <a:solidFill>
                  <a:srgbClr val="7ADF7A"/>
                </a:solidFill>
                <a:latin typeface="Segoe UI"/>
              </a:defRPr>
            </a:pPr>
            <a:r>
              <a:t>   Brick-proof design</a:t>
            </a:r>
          </a:p>
          <a:p>
            <a:pPr>
              <a:defRPr sz="1800" b="0">
                <a:solidFill>
                  <a:srgbClr val="7ADF7A"/>
                </a:solidFill>
                <a:latin typeface="Segoe UI"/>
              </a:defRPr>
            </a:pPr>
            <a:r>
              <a:t>   Professional GUI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Dual-Bank OTA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Flash memory layout on F28P55x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114800" cy="41148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ADF7A"/>
                </a:solidFill>
                <a:latin typeface="Segoe UI"/>
              </a:defRPr>
            </a:pPr>
            <a:r>
              <a:t>BANK 0  (0x080000)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468880"/>
            <a:ext cx="3474720" cy="109728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C40F"/>
                </a:solidFill>
                <a:latin typeface="Segoe UI"/>
              </a:defRPr>
            </a:pPr>
            <a:r>
              <a:t>Sectors 0-7: BOOT MANAGER</a:t>
            </a:r>
          </a:p>
          <a:p>
            <a:pPr algn="l">
              <a:defRPr sz="1400" b="0">
                <a:solidFill>
                  <a:srgbClr val="F1C40F"/>
                </a:solidFill>
                <a:latin typeface="Segoe UI"/>
              </a:defRPr>
            </a:pPr>
            <a:r>
              <a:t>Flashed via JTAG once</a:t>
            </a:r>
          </a:p>
          <a:p>
            <a:pPr algn="l">
              <a:defRPr sz="1400" b="0">
                <a:solidFill>
                  <a:srgbClr val="F1C40F"/>
                </a:solidFill>
                <a:latin typeface="Segoe UI"/>
              </a:defRPr>
            </a:pPr>
            <a:r>
              <a:t>NEVER erased by OTA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749039"/>
            <a:ext cx="3474720" cy="201168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Segoe UI"/>
              </a:defRPr>
            </a:pPr>
            <a:r>
              <a:t>Sectors 8-127: APPLICATION</a:t>
            </a:r>
          </a:p>
          <a:p>
            <a:pPr algn="l">
              <a:defRPr sz="1400" b="0">
                <a:solidFill>
                  <a:srgbClr val="58A6FF"/>
                </a:solidFill>
                <a:latin typeface="Segoe UI"/>
              </a:defRPr>
            </a:pPr>
            <a:r>
              <a:t>Running firmware</a:t>
            </a:r>
          </a:p>
          <a:p>
            <a:pPr algn="l">
              <a:defRPr sz="1400" b="0">
                <a:solidFill>
                  <a:srgbClr val="58A6FF"/>
                </a:solidFill>
                <a:latin typeface="Segoe UI"/>
              </a:defRPr>
            </a:pPr>
            <a:r>
              <a:t>Updated by boot manager</a:t>
            </a:r>
          </a:p>
          <a:p>
            <a:pPr algn="l">
              <a:defRPr sz="1400" b="0">
                <a:solidFill>
                  <a:srgbClr val="58A6FF"/>
                </a:solidFill>
                <a:latin typeface="Segoe UI"/>
              </a:defRPr>
            </a:pPr>
            <a:r>
              <a:t>via Bank 2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114800" cy="411480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BANK 2  (0x0C0000)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468880"/>
            <a:ext cx="3474720" cy="3291840"/>
          </a:xfrm>
          <a:prstGeom prst="round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2004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DDE6"/>
                </a:solidFill>
                <a:latin typeface="Segoe UI"/>
              </a:defRPr>
            </a:pPr>
            <a:r>
              <a:t>128 sectors</a:t>
            </a:r>
          </a:p>
          <a:p>
            <a:pPr algn="l">
              <a:defRPr sz="1600" b="0">
                <a:solidFill>
                  <a:srgbClr val="D6DDE6"/>
                </a:solidFill>
                <a:latin typeface="Segoe UI"/>
              </a:defRPr>
            </a:pPr>
            <a:r>
              <a:t>OTA STAGING AREA</a:t>
            </a:r>
          </a:p>
          <a:p>
            <a:pPr algn="l">
              <a:defRPr sz="1600" b="0">
                <a:solidFill>
                  <a:srgbClr val="D6DDE6"/>
                </a:solidFill>
                <a:latin typeface="Segoe UI"/>
              </a:defRPr>
            </a:pPr>
          </a:p>
          <a:p>
            <a:pPr algn="l">
              <a:defRPr sz="1600" b="0">
                <a:solidFill>
                  <a:srgbClr val="D6DDE6"/>
                </a:solidFill>
                <a:latin typeface="Segoe UI"/>
              </a:defRPr>
            </a:pPr>
            <a:r>
              <a:t>New firmware received</a:t>
            </a:r>
          </a:p>
          <a:p>
            <a:pPr algn="l">
              <a:defRPr sz="1600" b="0">
                <a:solidFill>
                  <a:srgbClr val="D6DDE6"/>
                </a:solidFill>
                <a:latin typeface="Segoe UI"/>
              </a:defRPr>
            </a:pPr>
            <a:r>
              <a:t>over CAN-FD</a:t>
            </a:r>
          </a:p>
          <a:p>
            <a:pPr algn="l">
              <a:defRPr sz="1600" b="0">
                <a:solidFill>
                  <a:srgbClr val="D6DDE6"/>
                </a:solidFill>
                <a:latin typeface="Segoe UI"/>
              </a:defRPr>
            </a:pPr>
            <a:r>
              <a:t>written here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6576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ADF7A"/>
                </a:solidFill>
                <a:latin typeface="Segoe UI"/>
              </a:defRPr>
            </a:pPr>
            <a:r>
              <a:t>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114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ADF7A"/>
                </a:solidFill>
                <a:latin typeface="Segoe UI"/>
              </a:defRPr>
            </a:pPr>
            <a:r>
              <a:t>&lt;&lt;&lt;&lt;&lt;&lt;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6035040"/>
            <a:ext cx="4114800" cy="640080"/>
          </a:xfrm>
          <a:prstGeom prst="roundRect">
            <a:avLst/>
          </a:prstGeom>
          <a:solidFill>
            <a:srgbClr val="2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6080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C40F"/>
                </a:solidFill>
                <a:latin typeface="Segoe UI"/>
              </a:defRPr>
            </a:pPr>
            <a:r>
              <a:t>BANK 3 (0x0E0000) — Boot Flag: 0xA5A5 / 0x5A5A + size + CRC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OTA Protocol — 4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265176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08760" y="201168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0574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111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1. ERASE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CMD_FW_START (0x30)</a:t>
            </a:r>
          </a:p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Erase Bank 2 (128 sectors)</a:t>
            </a:r>
          </a:p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Wait ~10s for 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65176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0" y="201168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574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111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2. HEADER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CMD_FW_HEADER (0x31)</a:t>
            </a:r>
          </a:p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Send size, CRC, version</a:t>
            </a:r>
          </a:p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MCU parses and 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5176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2011680"/>
            <a:ext cx="640080" cy="640080"/>
          </a:xfrm>
          <a:prstGeom prst="ellipse">
            <a:avLst/>
          </a:prstGeom>
          <a:solidFill>
            <a:srgbClr val="7AD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0574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111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3.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Data frames (ID 6)</a:t>
            </a:r>
          </a:p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64 bytes each, 16/burst</a:t>
            </a:r>
          </a:p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ACK after each burst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2651760" cy="3200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2680" y="2011680"/>
            <a:ext cx="640080" cy="64008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20574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111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4.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383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CMD_FW_COMPLETE (0x33)</a:t>
            </a:r>
          </a:p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MCU computes CRC32</a:t>
            </a:r>
          </a:p>
          <a:p>
            <a:pPr algn="ctr">
              <a:defRPr sz="1400" b="0">
                <a:solidFill>
                  <a:srgbClr val="D6DDE6"/>
                </a:solidFill>
                <a:latin typeface="Segoe UI"/>
              </a:defRPr>
            </a:pPr>
            <a:r>
              <a:t>CRC_PASS or CRC_FAIL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ADF7A"/>
                </a:solidFill>
                <a:latin typeface="Segoe UI"/>
              </a:defRPr>
            </a:pPr>
            <a:r>
              <a:t>On CRC_PASS: MCU writes boot flag to Bank 3, resets.  Boot manager copies Bank 2 → Bank 0 on next boot.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Brick-Proof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Every failure mode has a safe recovery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754880" cy="914400"/>
          </a:xfrm>
          <a:prstGeom prst="round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Power lost during Bank 2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828800"/>
            <a:ext cx="5303520" cy="914400"/>
          </a:xfrm>
          <a:prstGeom prst="roundRect">
            <a:avLst/>
          </a:prstGeom>
          <a:solidFill>
            <a:srgbClr val="12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965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DF7A"/>
                </a:solidFill>
                <a:latin typeface="Segoe UI"/>
              </a:defRPr>
            </a:pPr>
            <a:r>
              <a:t>Boot manager untouched. Boots old FW. Retry 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4754880" cy="914400"/>
          </a:xfrm>
          <a:prstGeom prst="round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Power lost during Bank 0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971800"/>
            <a:ext cx="5303520" cy="914400"/>
          </a:xfrm>
          <a:prstGeom prst="roundRect">
            <a:avLst/>
          </a:prstGeom>
          <a:solidFill>
            <a:srgbClr val="12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DF7A"/>
                </a:solidFill>
                <a:latin typeface="Segoe UI"/>
              </a:defRPr>
            </a:pPr>
            <a:r>
              <a:t>Boot manager retries copy on next boot (flag still set).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4754880" cy="914400"/>
          </a:xfrm>
          <a:prstGeom prst="round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CRC mismatch after transfer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114800"/>
            <a:ext cx="5303520" cy="914400"/>
          </a:xfrm>
          <a:prstGeom prst="roundRect">
            <a:avLst/>
          </a:prstGeom>
          <a:solidFill>
            <a:srgbClr val="12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51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DF7A"/>
                </a:solidFill>
                <a:latin typeface="Segoe UI"/>
              </a:defRPr>
            </a:pPr>
            <a:r>
              <a:t>Boot manager clears flag, boots old FW. No harm.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4754880" cy="914400"/>
          </a:xfrm>
          <a:prstGeom prst="round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CAN bus disconnected mid-transfer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5257800"/>
            <a:ext cx="5303520" cy="914400"/>
          </a:xfrm>
          <a:prstGeom prst="roundRect">
            <a:avLst/>
          </a:prstGeom>
          <a:solidFill>
            <a:srgbClr val="12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5394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DF7A"/>
                </a:solidFill>
                <a:latin typeface="Segoe UI"/>
              </a:defRPr>
            </a:pPr>
            <a:r>
              <a:t>Sender times out. MCU stays on old FW. Retry later.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C40F"/>
                </a:solidFill>
                <a:latin typeface="Segoe UI"/>
              </a:defRPr>
            </a:pPr>
            <a:r>
              <a:t>Boot manager NEVER erases itself. Only a JTAG write to sectors 0-7 can brick the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Professional GUI — 8 Tabs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517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Manual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Step-by-step OTA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Connect, Erase, Header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Data, Verify, Single 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6517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MCU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Read/Write boot flag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Read flash, Erase sector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CRC, Reset, Raw 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6517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CAN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Live bus sniffer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All IDs, timestamps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Start/Stop/Clear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45920"/>
            <a:ext cx="26517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CAN 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PCAN channel select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Bit timing config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Live bitrate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26517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CAN IDs (6, 7, 8)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Command codes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Response codes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114800"/>
            <a:ext cx="26517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8463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Burst size, frame size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Inter-frame delay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All timeouts, retries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26517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Header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Magic, image type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Dest bank, entry point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For custom flash layouts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114800"/>
            <a:ext cx="2651760" cy="2194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Settings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8463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Dark/Light/System theme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Save/Load settings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Reset to defaults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Binary Format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hex2000 --image with ROMS directive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029200" cy="4572000"/>
          </a:xfrm>
          <a:prstGeom prst="round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Segoe UI"/>
              </a:defRPr>
            </a:pPr>
            <a:r>
              <a:t>BROKEN  (hex2000 --binary)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Byte 0:  codestart[0]     OK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Byte 2:  codestart[1]     OK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Byte 4:  FPUmathTables    WRONG!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         (should be at byte 16)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         Sections concatenated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         with NO gaps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Every section after codestart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lands at the WRONG address.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Firmware is SCRAMBLED.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Size: 40,442 bytes (34 short)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0D1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ADF7A"/>
                </a:solidFill>
                <a:latin typeface="Segoe UI"/>
              </a:defRPr>
            </a:pPr>
            <a:r>
              <a:t>FIXED  (hex2000 --image + ROMS)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Byte 0:  codestart[0]     OK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Byte 2:  codestart[1]     OK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Byte 4:  0xFFFF (fill)    GAP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Byte 14: 0xFFFF (fill)    GAP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Byte 16: FPUmathTables    CORRECT!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         Address gaps filled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         with 0xFFFF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Every section at the correct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flash address. Works perfectly.</a:t>
            </a: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</a:p>
          <a:p>
            <a:pPr algn="l">
              <a:defRPr sz="1300" b="0">
                <a:solidFill>
                  <a:srgbClr val="D6DDE6"/>
                </a:solidFill>
                <a:latin typeface="Consolas"/>
              </a:defRPr>
            </a:pPr>
            <a:r>
              <a:t>Size: 40,476 bytes (exact)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Three Critical Bugs Fixed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051560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BUG 1: Flash ops ran from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DDE6"/>
                </a:solidFill>
                <a:latin typeface="Segoe UI"/>
              </a:defRPr>
            </a:pPr>
            <a:r>
              <a:t>boot_manager.c: eraseSector(), programEightWords() in .text (flash).</a:t>
            </a:r>
          </a:p>
          <a:p>
            <a:pPr algn="l">
              <a:defRPr sz="1200" b="0">
                <a:solidFill>
                  <a:srgbClr val="D6DDE6"/>
                </a:solidFill>
                <a:latin typeface="Segoe UI"/>
              </a:defRPr>
            </a:pPr>
            <a:r>
              <a:t>Flash FSM locks ALL banks during erase — CPU stalls.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148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DF7A"/>
                </a:solidFill>
                <a:latin typeface="Segoe UI"/>
              </a:defRPr>
            </a:pPr>
            <a:r>
              <a:t>FIX: #pragma CODE_SECTION(.TI.ramfunc) on all 5 functions.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1051560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BUG 2: Boot flag write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DDE6"/>
                </a:solidFill>
                <a:latin typeface="Segoe UI"/>
              </a:defRPr>
            </a:pPr>
            <a:r>
              <a:t>fw_image_rx.c: FW_triggerUpdate() ran from flash, called</a:t>
            </a:r>
          </a:p>
          <a:p>
            <a:pPr algn="l">
              <a:defRPr sz="1200" b="0">
                <a:solidFill>
                  <a:srgbClr val="D6DDE6"/>
                </a:solidFill>
                <a:latin typeface="Segoe UI"/>
              </a:defRPr>
            </a:pPr>
            <a:r>
              <a:t>FW_writeBootFlag() (RAM). Return address in locked flash.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DF7A"/>
                </a:solidFill>
                <a:latin typeface="Segoe UI"/>
              </a:defRPr>
            </a:pPr>
            <a:r>
              <a:t>FIX: Both functions .TI.ramfunc. Self-contained Flash API init.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37760"/>
            <a:ext cx="1051560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BUG 3: Binary format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DDE6"/>
                </a:solidFill>
                <a:latin typeface="Segoe UI"/>
              </a:defRPr>
            </a:pPr>
            <a:r>
              <a:t>hex2000 --binary concatenates sections, destroying address gaps.</a:t>
            </a:r>
          </a:p>
          <a:p>
            <a:pPr algn="l">
              <a:defRPr sz="1200" b="0">
                <a:solidFill>
                  <a:srgbClr val="D6DDE6"/>
                </a:solidFill>
                <a:latin typeface="Segoe UI"/>
              </a:defRPr>
            </a:pPr>
            <a:r>
              <a:t>Firmware scrambled when copied to Bank 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440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DF7A"/>
                </a:solidFill>
                <a:latin typeface="Segoe UI"/>
              </a:defRPr>
            </a:pPr>
            <a:r>
              <a:t>FIX: hex_image.hexcmd with --image + ROMS directive.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029200" cy="4572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Specification</a:t>
            </a:r>
          </a:p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─────────────────────────</a:t>
            </a:r>
          </a:p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Firmware size:      ~40 KB</a:t>
            </a:r>
          </a:p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CAN-FD data rate:   2 Mbps</a:t>
            </a:r>
          </a:p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Frame size:         64 bytes</a:t>
            </a:r>
          </a:p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Total frames:       ~633</a:t>
            </a:r>
          </a:p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Burst size:         16 frames</a:t>
            </a:r>
          </a:p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Inter-frame delay:  1 ms</a:t>
            </a:r>
          </a:p>
          <a:p>
            <a:pPr algn="l">
              <a:defRPr sz="1500" b="0">
                <a:solidFill>
                  <a:srgbClr val="D6DDE6"/>
                </a:solidFill>
                <a:latin typeface="Consolas"/>
              </a:defRPr>
            </a:pPr>
            <a:r>
              <a:t>CRC algorithm:      CRC32 (IEEE 802.3)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0D1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Timing Breakdown</a:t>
            </a: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─────────────────────────</a:t>
            </a: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Bank 2 erase:       ~10 sec</a:t>
            </a: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Data transfer:      ~15 sec</a:t>
            </a: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CRC verification:    ~2 sec</a:t>
            </a: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Boot manager copy:   ~5 sec</a:t>
            </a: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─────────────────────────</a:t>
            </a: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TOTAL:              ~32 sec</a:t>
            </a: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</a:p>
          <a:p>
            <a:pPr algn="l">
              <a:defRPr sz="1500" b="0">
                <a:solidFill>
                  <a:srgbClr val="7ADF7A"/>
                </a:solidFill>
                <a:latin typeface="Consolas"/>
              </a:defRPr>
            </a:pPr>
            <a:r>
              <a:t>vs JTAG: 15+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Repository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05156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S-Board-Firmware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github.com/partham20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Application firmware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OTA receiver (fw_image_rx.c)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hex_image.hexcmd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05156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C40F"/>
                </a:solidFill>
                <a:latin typeface="Segoe UI"/>
              </a:defRPr>
            </a:pPr>
            <a:r>
              <a:t>boot_manager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github.com/partham20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71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Boot manager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Bank 2 → Bank 0 copy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CAN debug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105156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ADF7A"/>
                </a:solidFill>
                <a:latin typeface="Segoe UI"/>
              </a:defRPr>
            </a:pPr>
            <a:r>
              <a:t>fw-updater-gui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github.com/partham20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Python GUI + CLI sender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Documentation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Presentation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12080"/>
            <a:ext cx="10515600" cy="10058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49E"/>
                </a:solidFill>
                <a:latin typeface="Segoe UI"/>
              </a:defRPr>
            </a:pPr>
            <a:r>
              <a:t>powercalculation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gitlab.deltaww.com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3492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Primary S-Board repo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Branch: FW_OTA</a:t>
            </a:r>
          </a:p>
          <a:p>
            <a:pPr algn="l">
              <a:defRPr sz="1300" b="0">
                <a:solidFill>
                  <a:srgbClr val="D6DDE6"/>
                </a:solidFill>
                <a:latin typeface="Segoe UI"/>
              </a:defRPr>
            </a:pPr>
            <a:r>
              <a:t>Internal mirror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8A6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github.com/partham20/S-Board-Firmware</a:t>
            </a:r>
          </a:p>
          <a:p>
            <a:pPr algn="ctr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github.com/partham20/boot_manager</a:t>
            </a:r>
          </a:p>
          <a:p>
            <a:pPr algn="ctr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github.com/partham20/fw-updater-gui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